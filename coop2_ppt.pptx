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257" r:id="rId5"/>
    <p:sldId id="268" r:id="rId6"/>
    <p:sldId id="269" r:id="rId7"/>
    <p:sldId id="270" r:id="rId8"/>
    <p:sldId id="271" r:id="rId9"/>
    <p:sldId id="272" r:id="rId10"/>
    <p:sldId id="273" r:id="rId11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18" d="100"/>
          <a:sy n="118" d="100"/>
        </p:scale>
        <p:origin x="-1482" y="-18"/>
      </p:cViewPr>
      <p:guideLst>
        <p:guide orient="horz" pos="2188"/>
        <p:guide pos="28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ustomXml" Target="../customXml/item3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E8EFF5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E8EFF5"/>
                </a:solidFill>
                <a:latin typeface="Arial" panose="020B0604020202020204"/>
              </a:rPr>
              <a:t>Shadow AI Usage by Industry (%)</a:t>
            </a:r>
            <a:endParaRPr sz="1200" b="0" i="0" u="none" strike="noStrike">
              <a:solidFill>
                <a:srgbClr val="E8EFF5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247836538461538"/>
          <c:y val="0.103715616618159"/>
          <c:w val="0.716105769230769"/>
          <c:h val="0.7912247474747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Shadow AI Usage Rate (%)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6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5F9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Retail/E-comm</c:v>
                </c:pt>
                <c:pt idx="1">
                  <c:v>Manufacturing</c:v>
                </c:pt>
                <c:pt idx="2">
                  <c:v>Financial Svcs</c:v>
                </c:pt>
                <c:pt idx="3">
                  <c:v>Professional</c:v>
                </c:pt>
                <c:pt idx="4">
                  <c:v>Technology</c:v>
                </c:pt>
                <c:pt idx="5">
                  <c:v>Healthcare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</c:v>
                </c:pt>
                <c:pt idx="1">
                  <c:v>67</c:v>
                </c:pt>
                <c:pt idx="2">
                  <c:v>66</c:v>
                </c:pt>
                <c:pt idx="3">
                  <c:v>65</c:v>
                </c:pt>
                <c:pt idx="4">
                  <c:v>64</c:v>
                </c:pt>
                <c:pt idx="5">
                  <c:v>57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2A3F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d66c2cb-2fa4-4c63-83da-66a846297f76}"/>
      </c:ext>
    </c:extLst>
  </c:chart>
  <c:spPr>
    <a:solidFill>
      <a:srgbClr val="1E3448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740"/>
            <a:ext cx="9144000" cy="582168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Industry (Module-2)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5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Shadow AI in Organizations</a:t>
            </a:r>
            <a:endParaRPr lang="en-US" sz="50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Trish Palia                             2210992467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 Taranpreet Kaur                     2210990908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 Arjun Tomar                          2210990154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Mayank Dhankar                    2210994811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ASHISH KUMAR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  <a:sym typeface="+mn-ea"/>
              </a:rPr>
              <a:t>Department of Computer Science and Engineering, </a:t>
            </a:r>
            <a:endParaRPr lang="en-US" sz="20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  <a:sym typeface="+mn-ea"/>
              </a:rPr>
              <a:t>Chitkara University, Punjab</a:t>
            </a:r>
            <a:endParaRPr lang="en-US" sz="20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63830" y="0"/>
            <a:ext cx="2562225" cy="837565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613" y="100941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Unsanctioned use of AI tools without IT/security approval.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spcAft>
                <a:spcPts val="500"/>
              </a:spcAft>
              <a:buSzPct val="10000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Employees independently adopt AI for drafting, summarizing &amp; analyzing — bypassing official channels.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spcAft>
                <a:spcPts val="500"/>
              </a:spcAft>
              <a:buSzPct val="10000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Encompasses chatbots, code assistants &amp; large language models (LLMs).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Subset of 'Shadow IT' but with distinctly more severe risks.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spcAft>
                <a:spcPts val="500"/>
              </a:spcAft>
              <a:buSzPct val="10000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AI-specific risks: hallucinations, bias, compliance violations (EU AI Act)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42240" y="910590"/>
            <a:ext cx="8860155" cy="5523865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Define Shadow AI and distinguish it from traditional Shadow IT, identifying its unique risk profile.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Define Shadow AI and distinguish it from traditional Shadow IT, identifying its unique risk profile.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Analyze security, privacy, and compliance risks — including data breach costs, GDPR/HIPAA violations, and IP threats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Assess organizational awareness levels and identify critical governance maturity gaps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Propose a comprehensive, actionable governance framework using a 'Consolidate, Don't Confiscate' paradigm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Outline future regulatory trends and evolving technological countermeasures for Shadow AI management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36245" y="180975"/>
            <a:ext cx="4110355" cy="516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Research Objectives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86385" y="215900"/>
            <a:ext cx="39776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Literature Review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34645" y="1096645"/>
            <a:ext cx="8333105" cy="5485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Shadow AI = 20% of all breaches; $4.63M avg cost — $670K premium over standard breaches.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65% of workers use unauthorized AI; 49% without employer approval; 30% share sensitive data with ChatGPT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Only 9–12% of organizations have functioning AI governance systems; 14% of boards discuss AI regularly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87% of leaders expect AI agents to reshape governance within one year; only 33% believe employers fully utilize AI.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Five-dimension maturity model shows most firms at 'Reactive' stage — no proactive strategy.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97% of AI-breach organizations lacked access controls; 86% blind to AI data flows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34645" y="173355"/>
            <a:ext cx="40544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Data Analysis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6" name="Chart 0"/>
          <p:cNvGraphicFramePr/>
          <p:nvPr/>
        </p:nvGraphicFramePr>
        <p:xfrm>
          <a:off x="245745" y="1162685"/>
          <a:ext cx="4587240" cy="4993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134610" y="1098550"/>
            <a:ext cx="3917950" cy="4988560"/>
          </a:xfrm>
          <a:prstGeom prst="rect">
            <a:avLst/>
          </a:prstGeom>
          <a:solidFill>
            <a:srgbClr val="1E3448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5349240" y="1162177"/>
            <a:ext cx="3703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Department-Level Usage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349240" y="156337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6812280" y="1558671"/>
            <a:ext cx="1920240" cy="201168"/>
          </a:xfrm>
          <a:prstGeom prst="rect">
            <a:avLst/>
          </a:prstGeom>
          <a:solidFill>
            <a:srgbClr val="132233"/>
          </a:solidFill>
          <a:ln w="12700">
            <a:solidFill>
              <a:srgbClr val="2A3F55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6812280" y="1558671"/>
            <a:ext cx="1514246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771890" y="1481455"/>
            <a:ext cx="335915" cy="264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72%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349240" y="2006473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IT/Technology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791325" y="2109724"/>
            <a:ext cx="1920240" cy="201168"/>
          </a:xfrm>
          <a:prstGeom prst="rect">
            <a:avLst/>
          </a:prstGeom>
          <a:solidFill>
            <a:srgbClr val="132233"/>
          </a:solidFill>
          <a:ln w="12700">
            <a:solidFill>
              <a:srgbClr val="2A3F55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791325" y="2103374"/>
            <a:ext cx="1430122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8793480" y="2102993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68%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410200" y="2551811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Finance/HR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12280" y="2569972"/>
            <a:ext cx="1920240" cy="201168"/>
          </a:xfrm>
          <a:prstGeom prst="rect">
            <a:avLst/>
          </a:prstGeom>
          <a:solidFill>
            <a:srgbClr val="132233"/>
          </a:solidFill>
          <a:ln w="12700">
            <a:solidFill>
              <a:srgbClr val="2A3F55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791325" y="2569972"/>
            <a:ext cx="1345997" cy="2011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778240" y="25511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64%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10200" y="321017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Data/Analytics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12280" y="3246120"/>
            <a:ext cx="1920240" cy="201168"/>
          </a:xfrm>
          <a:prstGeom prst="rect">
            <a:avLst/>
          </a:prstGeom>
          <a:solidFill>
            <a:srgbClr val="132233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812280" y="3246120"/>
            <a:ext cx="132496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778240" y="320954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63%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410200" y="386791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812280" y="3904488"/>
            <a:ext cx="1920240" cy="201168"/>
          </a:xfrm>
          <a:prstGeom prst="rect">
            <a:avLst/>
          </a:prstGeom>
          <a:solidFill>
            <a:srgbClr val="132233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812280" y="3904488"/>
            <a:ext cx="1135685" cy="2011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778240" y="38679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54%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394960" y="4608703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 Z Insight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388610" y="4856353"/>
            <a:ext cx="33832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 Z workers (18–24) are 35% likely to use only personal AI vs 14% of other age groups. 30% cite leadership resistance as the main barrier to official AI adoption.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08610" y="132080"/>
            <a:ext cx="33528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Conclusion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2"/>
          <p:cNvSpPr/>
          <p:nvPr/>
        </p:nvSpPr>
        <p:spPr>
          <a:xfrm>
            <a:off x="868680" y="813562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0" name="Text 5"/>
          <p:cNvSpPr/>
          <p:nvPr/>
        </p:nvSpPr>
        <p:spPr>
          <a:xfrm>
            <a:off x="361950" y="915035"/>
            <a:ext cx="8702675" cy="1032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Shadow AI represents a defining enterprise security challenge of the mid-2020s — driven by genuine productivity needs, inadequate official tooling, and leadership complicity — that demands a new governance paradigm.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367665" y="3429000"/>
            <a:ext cx="7944485" cy="786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Shadow AI is pervasive, costly, and largely invisible — affecting 65% of workers with $4.63M avg breach costs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367665" y="1939290"/>
            <a:ext cx="8149590" cy="786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Governance failures are structural — 83% of firms lack basic controls; 97% of breached organizations had no AI access controls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367665" y="2725420"/>
            <a:ext cx="8072120" cy="786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Blanket bans are counterproductive — they drive usage underground; 'Consolidate, Don't Confiscate' is the proven framework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361950" y="4966335"/>
            <a:ext cx="8271510" cy="786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 five-pillar approach (Accept, Enable, Assess, Restrict, Eliminate) addresses both compliance needs and productivity drives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361950" y="4215130"/>
            <a:ext cx="8270875" cy="786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Technical guardrails alone are insufficient — cultural transformation, leadership modeling, and role-specific trining are essential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361950" y="5752465"/>
            <a:ext cx="8270875" cy="786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Regulatory urgency is accelerating — EU AI Act obligations begin August 2026; organizations must act now or face major fines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1"/>
          <p:cNvSpPr/>
          <p:nvPr/>
        </p:nvSpPr>
        <p:spPr>
          <a:xfrm>
            <a:off x="78740" y="25603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Future Scope &amp; Research Directions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365760" y="1280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97485" y="1062355"/>
            <a:ext cx="852614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Develop frameworks for autonomous multi-step AI workflows that operate outside traditional API controls — a major emerging gap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2542032" y="1280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320040" y="2517775"/>
            <a:ext cx="82600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Organizations must categorize all AI systems by risk level; Shadow AI instances represent critical EU AI Act compliance gaps from August 2026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4718304" y="1280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422275" y="5535295"/>
            <a:ext cx="815784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Mature AI Security Posture Management tools that provide pipeline visibility, misconfiguration detection, and detailed audit logging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6894576" y="1280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422275" y="4735195"/>
            <a:ext cx="772604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Move beyond static policies to co-evolving frameworks that respond dynamically to new AI capabilities and emerging threat vectors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365760" y="3291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204470" y="1737360"/>
            <a:ext cx="837565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Conduct field-based empirical surveys measuring actual (not self-reported) Shadow AI usage, control effectiveness, and breach attribution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2542032" y="3291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2523744" y="3675888"/>
            <a:ext cx="18745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29"/>
          <p:cNvSpPr/>
          <p:nvPr/>
        </p:nvSpPr>
        <p:spPr>
          <a:xfrm>
            <a:off x="4718304" y="3291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0"/>
          <p:cNvSpPr/>
          <p:nvPr/>
        </p:nvSpPr>
        <p:spPr>
          <a:xfrm>
            <a:off x="365760" y="3291840"/>
            <a:ext cx="82143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Address the critical shortage of skilled AI auditors — a major barrier to effective governance implementation across sectors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" name="Text 33"/>
          <p:cNvSpPr/>
          <p:nvPr/>
        </p:nvSpPr>
        <p:spPr>
          <a:xfrm>
            <a:off x="6894576" y="3291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34"/>
          <p:cNvSpPr/>
          <p:nvPr/>
        </p:nvSpPr>
        <p:spPr>
          <a:xfrm>
            <a:off x="422275" y="4026535"/>
            <a:ext cx="815721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Harmonize US state-level AI laws, EU AI Act, China LLM filing requirements, and emerging Latin American frameworks into unified compliance models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3850" y="1031240"/>
            <a:ext cx="8039100" cy="5446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[1] Palo Alto Networks, What Is Shadow AI? Cyberpedia,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[2] Bennett Jones, Hiding in the Shadows: The Perils of Shadow AI,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[3] ISACA, The Rise of Shadow AI: Auditing Unauthorized AI Tools,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[4] Varonis, Hidden Risks of Shadow AI,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[5] Sweep, The Big AI at Work Study 2025,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[6] IBM, Is rising AI adoption creating shadow AI risks? IBM Think,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[7] IDC, Shadow AI: How stealth productivity is strangling enterprise AI,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[8] Kiteworks, IBM 2025: 97% AI Breaches Lack Controls Shadow AI,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[9] PwC, 2025 Responsible AI Survey: From Policy to Practice,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[10] UC Berkeley, AI Governance Maturity Matrix, California Management Review,Z2025.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[11] K2 Integrity, Shadow AI Governance: How To Manage Hidden GenAI Risks, 2026.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[12] Dentons, 2026 global AI trends: Six key developments, 2026.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[13] SurePath AI, Insurance won’t cover AI risks. Visibility will, 2026.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90550" y="132080"/>
            <a:ext cx="4084320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en-GB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References</a:t>
            </a:r>
            <a:endParaRPr lang="en-GB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91DF113-39A2-46D5-BFDA-E63300A9ECA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5097</Words>
  <Application>WPS Presentation</Application>
  <PresentationFormat>On-screen Show (4:3)</PresentationFormat>
  <Paragraphs>159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Times New Roman</vt:lpstr>
      <vt:lpstr>Calibri</vt:lpstr>
      <vt:lpstr>Microsoft YaHei</vt:lpstr>
      <vt:lpstr>Arial Unicode MS</vt:lpstr>
      <vt:lpstr>DejaVu Sans</vt:lpstr>
      <vt:lpstr>Calibri</vt:lpstr>
      <vt:lpstr>Calibri</vt:lpstr>
      <vt:lpstr>Bodoni MT</vt:lpstr>
      <vt:lpstr>time</vt:lpstr>
      <vt:lpstr>Liberation Mono</vt:lpstr>
      <vt:lpstr>Linux Libertine Display G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trish.palia</cp:lastModifiedBy>
  <cp:revision>2302</cp:revision>
  <dcterms:created xsi:type="dcterms:W3CDTF">2010-04-09T07:36:00Z</dcterms:created>
  <dcterms:modified xsi:type="dcterms:W3CDTF">2026-04-29T10:37:47Z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KSOProductBuildVer">
    <vt:lpwstr>1033-12.1.0.25862</vt:lpwstr>
  </property>
  <property fmtid="{D5CDD505-2E9C-101B-9397-08002B2CF9AE}" pid="15" name="ICV">
    <vt:lpwstr>92B41FBE2F0847DCBE9F34D8128F87EE_13</vt:lpwstr>
  </property>
</Properties>
</file>